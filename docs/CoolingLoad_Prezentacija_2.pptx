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0565"/>
  </p:normalViewPr>
  <p:slideViewPr>
    <p:cSldViewPr snapToGrid="0" snapToObjects="1">
      <p:cViewPr varScale="1">
        <p:scale>
          <a:sx n="122" d="100"/>
          <a:sy n="122" d="100"/>
        </p:scale>
        <p:origin x="1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Korelacija s Cooling Load</c:v>
                </c:pt>
              </c:strCache>
            </c:strRef>
          </c:tx>
          <c:spPr>
            <a:solidFill>
              <a:srgbClr val="1A6EA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6E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AD4-2446-9143-64672B034B00}"/>
              </c:ext>
            </c:extLst>
          </c:dPt>
          <c:dPt>
            <c:idx val="1"/>
            <c:invertIfNegative val="0"/>
            <c:bubble3D val="0"/>
            <c:spPr>
              <a:solidFill>
                <a:srgbClr val="1A6E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AD4-2446-9143-64672B034B00}"/>
              </c:ext>
            </c:extLst>
          </c:dPt>
          <c:dPt>
            <c:idx val="2"/>
            <c:invertIfNegative val="0"/>
            <c:bubble3D val="0"/>
            <c:spPr>
              <a:solidFill>
                <a:srgbClr val="1A6E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AD4-2446-9143-64672B034B00}"/>
              </c:ext>
            </c:extLst>
          </c:dPt>
          <c:dPt>
            <c:idx val="3"/>
            <c:invertIfNegative val="0"/>
            <c:bubble3D val="0"/>
            <c:spPr>
              <a:solidFill>
                <a:srgbClr val="1A6E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AD4-2446-9143-64672B034B00}"/>
              </c:ext>
            </c:extLst>
          </c:dPt>
          <c:dPt>
            <c:idx val="4"/>
            <c:invertIfNegative val="0"/>
            <c:bubble3D val="0"/>
            <c:spPr>
              <a:solidFill>
                <a:srgbClr val="1A6E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AD4-2446-9143-64672B034B00}"/>
              </c:ext>
            </c:extLst>
          </c:dPt>
          <c:dPt>
            <c:idx val="5"/>
            <c:invertIfNegative val="0"/>
            <c:bubble3D val="0"/>
            <c:spPr>
              <a:solidFill>
                <a:srgbClr val="1A6E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AD4-2446-9143-64672B034B00}"/>
              </c:ext>
            </c:extLst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AD4-2446-9143-64672B034B00}"/>
              </c:ext>
            </c:extLst>
          </c:dPt>
          <c:dPt>
            <c:idx val="7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AD4-2446-9143-64672B034B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H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Overall Height</c:v>
                </c:pt>
                <c:pt idx="1">
                  <c:v>Glazing Area</c:v>
                </c:pt>
                <c:pt idx="2">
                  <c:v>Relative Compactness</c:v>
                </c:pt>
                <c:pt idx="3">
                  <c:v>Wall Area</c:v>
                </c:pt>
                <c:pt idx="4">
                  <c:v>Glazing Area Distr.</c:v>
                </c:pt>
                <c:pt idx="5">
                  <c:v>Orientation</c:v>
                </c:pt>
                <c:pt idx="6">
                  <c:v>Surface Area</c:v>
                </c:pt>
                <c:pt idx="7">
                  <c:v>Roof Area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</c:v>
                </c:pt>
                <c:pt idx="1">
                  <c:v>0.67</c:v>
                </c:pt>
                <c:pt idx="2">
                  <c:v>0.63</c:v>
                </c:pt>
                <c:pt idx="3">
                  <c:v>0.43</c:v>
                </c:pt>
                <c:pt idx="4">
                  <c:v>0.21</c:v>
                </c:pt>
                <c:pt idx="5">
                  <c:v>0.01</c:v>
                </c:pt>
                <c:pt idx="6">
                  <c:v>-0.17</c:v>
                </c:pt>
                <c:pt idx="7">
                  <c:v>-0.86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AD4-2446-9143-64672B034B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05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Naslov: Cooling Load — Predviđanje toplinskog učinka hlađenja stambenih zgrada
Projektni zadatak izrađen u okviru kolegija Otkrivanje znanja u podacima, Fakultet organizacije i informatike, Varaždin, 2026.
Autori: Robert Domgjonaj, David Jasek, Marin Šalaj.
Projekt je strukturiran prema CRISP-DM metodologiji; ovaj dokument pokriva prve dvije faze: razumijevanje domene i razumijevanje podataka.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Prezentacija se dijeli u šest tematskih cjelina:
1. Uvod — definicija problema i metodološki okvir (CRISP-DM).
2. Razumijevanje domene — poslovni ciljevi, cilj rudarenja podataka i kriteriji evaluacije modela.
3. Analiza troškova i koristi — procjena isplativosti predloženog rješenja za projektantski ured.
4. Razumijevanje podataka — opis skupa, deskriptivna statistika, distribucije i korelacijska analiza.
5. Provjera kvalitete podataka — nedostajuće vrijednosti, rasponi i detekcija outliera.
6. Zaključak — sinteza ključnih nalaza i smjer daljnjeg istraživanja (Faza 3+).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Cooling load (toplinski učinak hlađenja) označava maksimalnu snagu hlađenja u kilowatima (kW) koju rashladni sustav mora isporučiti kako bi prostorija ostala u komfornom toplinskom rasponu u uvjetima vršnog ljetnog opterećenja.
Neprecizno dimenzioniranje rashladnog sustava uzrokuje dvojake probleme: predimenzioniran uređaj generira nepotrebne operativne troškove, dok poddimenzioniran uređaj ne ispunjava </a:t>
            </a:r>
            <a:r>
              <a:rPr lang="en-US" dirty="0" err="1"/>
              <a:t>zahtjeve</a:t>
            </a:r>
            <a:r>
              <a:rPr lang="en-US" dirty="0"/>
              <a:t> </a:t>
            </a:r>
            <a:r>
              <a:rPr lang="en-US" dirty="0" err="1"/>
              <a:t>tijekom</a:t>
            </a:r>
            <a:r>
              <a:rPr lang="en-US" dirty="0"/>
              <a:t> </a:t>
            </a:r>
            <a:r>
              <a:rPr lang="en-US" dirty="0" err="1"/>
              <a:t>ljetnog</a:t>
            </a:r>
            <a:r>
              <a:rPr lang="en-US" dirty="0"/>
              <a:t> </a:t>
            </a:r>
            <a:r>
              <a:rPr lang="en-US" dirty="0" err="1"/>
              <a:t>vrhunca</a:t>
            </a:r>
            <a:r>
              <a:rPr lang="en-US" dirty="0"/>
              <a:t>.
Projekt se odvija prema CRISP-DM metodologiji (Cross-Industry Standard Process for Data Mining), koja proces rudarenja podataka strukturira u šest iterativnih faza. U ovom dokumentu obrađuju se Faza 1 (razumijevanje domene) i Faza 2 (razumijevanje podataka).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Analiza troškova i koristi provedena je s ciljem procjene ekonomske opravdanosti razvoja prediktivnog modela.
Jednokratni troškovi razvoja procijenjeni su na 5.000–10.000 EUR (rad podatkovnog znanstvenika, 40–80 sati), uz dodatnih 2.000–5.000 EUR za prikupljanje i pripremu podataka. Godišnji operativni troškovi (računalni resursi i održavanje modela) iznose 2.500–6.000 EUR.
Na strani koristi, ključna ušteda ostvaruje se smanjenjem trajanja procjene po projektu s 3–5 sati na svega 15 minuta, što u novčanom ekvivalentu iznosi 500–1.500 EUR po projektu.
Zaključak analize: pri korištenju modela na 30 ili više projekata godišnje — što je realna projekcija za aktivan projektantski ured — investicija se amortizira već u prvoj godini. Dugoročna vrijednost dodatno raste kroz smanjenje grešaka pri dimenzioniranju opreme i konkurentsku prednost bržeg isporučivanja ponuda.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Skup podataka generiran je energetskom simulacijom u alatu Ecotect. Definirana su 12 oblika tlocrta stambenih zgrada jednakog volumena (771,75 m³), uz sustavno variranje orijentacije, udjela ostakljenja i raspodjele ostakljenja, što je rezultiralo s 768 jedinstvenih kombinacija ulaznih parametara.
Skup je dostupan na UCI Machine Learning Repository (dataset #242 — Energy Efficiency).
Ključna prednost sintetičkog skupa: potpuna odsutnost grešaka mjerenja i potpuna pokrivenost kombinatornog prostora parametara. Ograničenje: podaci ne potječu iz stvarnog operativnog okruženja, što može utjecati na eksternu valjanost modela.
Skup sadrži 768 instanci, 9 numeričkih atributa (8 ulaznih značajki + 1 ciljna varijabla) i niti jednu nedostajuću vrijednost. Svi diskretni atributi savršeno su balansiran — svaka razina zastupljena je jednakim brojem instanci — što je inherentna karakteristika planiranog eksperimenta.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Skup sadrži osam ulaznih geometrijskih značajki i jednu ciljnu varijablu:
- Relative Compactness: omjer volumena i površine ovojnice zgrade; 12 diskretnih razina (0,62–0,98).
- Surface Area: ukupna površina vanjske ovojnice (zidovi + krov + pod) u m²; 12 razina.
- Wall Area: površina zidova u m²; 7 razina.
- Roof Area: površina krova u m²; 4 razine.
- Overall Height: visina zgrade — prizemnica (3,5 m) ili jednokatnica (7,0 m); de facto binarna varijabla.
- Orientation: smjer glavnog pročelja kodiran cijelim brojevima (2=S, 3=Z, 4=I, 5=J); 4 razine.
- Glazing Area: udio ostakljenja (prozori / ukupna površina poda); 4 diskretne razine (0,00; 0,10; 0,25; 0,40).
- Glazing Area Distribution: raspodjela ostakljenja po fasadama (0–5); vrijednost 0 označava odsutnost ostakljenja — poseban slučaj s utjecajem na cooling load.
- Cooling Load (ciljna varijabla): toplinski učinak hlađenja u kW; raspon 10,90–48,03 kW; 586 jedinstvenih vrijednosti.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Distribucija ciljne varijable Cooling Load analizirana je vizualnim i statističkim metodama.
Deskriptivna statistika: srednja vrijednost 24,59 kW, medijan 22,08 kW, standardna devijacija 9,51 kW, koeficijent asimetrije +0,47. Budući da je srednja vrijednost viša od medijana, distribucija pokazuje blagu desnu zakrivljenost, vidljivu na histogramu s KDE krivuljom.
Uočena bimodalnost distribucije posljedica je podjele zgrada na prizemnice i jednokatnice — dva odvojena toplinsko-energetska obrasca. Q-Q plot pokazuje odstupanja od normalne distribucije na repovima, osobito u donjem dijelu (prizemnice) i gornjem dijelu (katnice s maksimalnim ostakljnjem).
Provedeni Shapiro-Wilk test normalnosti rezultirao je p-vrijednošću manjom od 0,05, što formalno odbacuje hipotezu o normalnoj distribuciji. Ovo ne predstavlja metodološki problem jer su planirani algoritmi (Random Forest, XGBoost) neparametarski i ne pretpostavljaju normalnost ciljne varijable.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Histogrami distribucija svih devet atributa skupa vizualno potvrđuju strukturu eksperimentalnog dizajna.
Uniformne varijable: Relative Compactness, Surface Area, Orientation i Glazing Area Distribution pokazuju ravnomjernu raspodjelu frekvencija — inherentna karakteristika sustavno planiranog kombinatornog eksperimenta u kojemu je svaka kombinacija ulaznih parametara zastupljena jedanput.
Bimodalna varijabla: Overall Height poprima isključivo dvije vrijednosti (3,5 m i 7,0 m), svaka zastupljena s točno 50% instanci (po 384). Kurtosis = −2,00 potvrđuje savršenu bimodalnost bez međuvrijednosti.
Diskretni rasponi: Glazing Area prikazuje četiri diskretna tornja (0,00; 0,10; 0,25; 0,40), svaki zastupljen s točno 192 instance (25%). Cooling Load jedini je kontinuirani atribut s 586 jedinstvenih vrijednosti.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Pearsonova korelacijska analiza provedena je između svih atributa i ciljne varijable Cooling Load.
Najjači pozitivni prediktori:
- Overall Height (r = 0,90): jednokatnice imaju osjetno veći cooling load od prizemnica.
- Glazing Area (r = 0,67): veći udio ostakljenja povećava solarne dobitke i time cooling load.
- Relative Compactness (r = 0,63): kompaktnije zgrade generiraju veći toplinski učinak.
Negativni prediktori:
- Roof Area (r = −0,86): veća površina krova tipično označava prizemnice s manjim cooling load-om.
- Surface Area (r = −0,17): slabija negativna veza.
Najslabiji prediktor:
- Orientation (r = 0,01): gotovo nulta korelacija; orijentacija pročelja ne objašnjava varijabilnost cooling load-a u ovom skupu. Kandidat je za izbacivanje iz konačnog skupa značajki, što će biti potvrđeno analizom važnosti značajki u Fazi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Korelacijska matrica identificirala je dva problematična para atributa s iznimno visokim međusobnim korelacijama, što ukazuje na prisutnost multikolinearnosti:
1. Relative Compactness vs. Surface Area (r = −0,99): gotovo savršena negativna korelacija. Oba atributa opisuju istu geometrijsku informaciju iz suprotnih perspektiva — kompaktnost kao omjer volumena i površine, odnosno površina kao apsolutna mjera ovojnice. Istovremenim uvrštavanjem oba atributa u model uvodi se redundancija koja može destabilizirati koeficijente linearne regresije.
2. Roof Area vs. Overall Height (r = −0,97): logična funkcionalna veza — zgrade veće visine imaju više etaža i proporcionalno manji udio krovne površine u ukupnoj ovojnici.
Planirane korektivne mjere u Fazi 3 (Priprema podataka):
- VIF analiza (Variance Inflation Factor) za kvantifikaciju stupnja multikolinearnosti.
- Razmatranje eliminacije jednog atributa iz svakog para ili primjena transformacije (npr. PCA).
- Konačna odluka bit će donesena na temelju analize važnosti značajki (feature importance).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Provjera kvalitete podataka provedena je kroz tri komplementarne analize:
1. Nedostajuće vrijednosti: heatmap potvrđuje odsutnost svih nedostajućih vrijednosti; imputacija nije potrebna.
2. Konzistentnost raspona: svi atributi nalaze se unutar fizikalno smislenih granica prema dokumentaciji skupa. Diskretne varijable posjeduju točno onoliko razina koliko je predviđeno eksperimentalnim dizajnom.
3. Detekcija outliera: primijenjene su IQR metoda (granice Q1 − 1,5×IQR i Q3 + 1,5×IQR) i Z-score metoda (|Z| &gt; 3). Obje metode identificirale su mali broj rubnih slučajeva koji odgovaraju fizikalno legitimnim kombinacijama parametara (maksimalno ostakljenje + jednokatnica). Odlučeno je da se zadržavaju u skupu.
Ukupni zaključak Faze 2: skup podataka je čist, konzistentan i metodološki spreman za prijelaz u Fazu 3 (Priprema podataka). Identificirani izazovi — multikolinearnost dvaju parova atributa i slab prediktorski potencijal varijable Orientation — bit će sustavno adresiani u sljedećoj fazi kroz VIF analizu, selekciju značajki i pripremu ulaznih podataka za modeliranje algoritmima Random Forest i XGBoost.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" name="Shape 2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E4D7B">
              <a:alpha val="30000"/>
            </a:srgbClr>
          </a:solidFill>
          <a:ln w="12700">
            <a:solidFill>
              <a:srgbClr val="0E4D7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" name="Shape 3"/>
          <p:cNvSpPr/>
          <p:nvPr/>
        </p:nvSpPr>
        <p:spPr>
          <a:xfrm>
            <a:off x="6583680" y="1828800"/>
            <a:ext cx="3200400" cy="3200400"/>
          </a:xfrm>
          <a:prstGeom prst="ellipse">
            <a:avLst/>
          </a:prstGeom>
          <a:solidFill>
            <a:srgbClr val="1A6EA8">
              <a:alpha val="25000"/>
            </a:srgbClr>
          </a:solidFill>
          <a:ln w="12700">
            <a:solidFill>
              <a:srgbClr val="1A6EA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LOAD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E9B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Predviđanje toplinskog učinka hlađenja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2E9B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stambenih zgrada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3246120"/>
            <a:ext cx="4114800" cy="27432"/>
          </a:xfrm>
          <a:prstGeom prst="rect">
            <a:avLst/>
          </a:prstGeom>
          <a:solidFill>
            <a:srgbClr val="2E9BDA">
              <a:alpha val="70000"/>
            </a:srgbClr>
          </a:solidFill>
          <a:ln w="12700">
            <a:solidFill>
              <a:srgbClr val="2E9BD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9" name="Text 7"/>
          <p:cNvSpPr/>
          <p:nvPr/>
        </p:nvSpPr>
        <p:spPr>
          <a:xfrm>
            <a:off x="59436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Domgjonaj  ·  David Jasek  ·  Marin Šalaj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Otkrivanje znanja u podacima  ·  FOI Varaždin  ·  2026.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4206240"/>
            <a:ext cx="3108960" cy="411480"/>
          </a:xfrm>
          <a:prstGeom prst="roundRect">
            <a:avLst>
              <a:gd name="adj" fmla="val 17778"/>
            </a:avLst>
          </a:prstGeom>
          <a:solidFill>
            <a:srgbClr val="1A6EA8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2" name="Text 10"/>
          <p:cNvSpPr/>
          <p:nvPr/>
        </p:nvSpPr>
        <p:spPr>
          <a:xfrm>
            <a:off x="594360" y="4206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Faze 1 &amp; 2  —  CRISP-DM metodologija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 prezentacije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2920" cy="105156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2527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618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Tema, motivacija i metodološki okvir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02920" cy="105156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4871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Razumijevanje domene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8529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Poslovni cilj, cilj rudarenja i metrike evaluacije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502920" cy="105156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7216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troškova i koristi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0873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Procjena isplativosti rješenja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502920" cy="105156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0" name="Text 18"/>
          <p:cNvSpPr/>
          <p:nvPr/>
        </p:nvSpPr>
        <p:spPr>
          <a:xfrm>
            <a:off x="4846320" y="1143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12527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Razumijevanje podataka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16184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Opis skupa, statistika, distribucije, korelacije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37744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502920" cy="105156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5" name="Text 23"/>
          <p:cNvSpPr/>
          <p:nvPr/>
        </p:nvSpPr>
        <p:spPr>
          <a:xfrm>
            <a:off x="484632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24871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Provjera kvalitete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8529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Outlieri, nedostajuće vrijednosti, rasponi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61188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502920" cy="105156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0" name="Text 28"/>
          <p:cNvSpPr/>
          <p:nvPr/>
        </p:nvSpPr>
        <p:spPr>
          <a:xfrm>
            <a:off x="4846320" y="3611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40680" y="37216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40873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Sažetak nalaza i sljedeći koraci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BD5E1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UVOD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</a:rPr>
              <a:t>Što je Cooling Load?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1206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4008" cy="3017520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Definicija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Maksimalna snaga hlađenja (kW) koja se mora isporučiti rashladnim sustavom da prostor ostane komforan u najtoplijim uvjetima.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lošeg dimenzioniranja: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Predimenzioniran uređaj → nepotrebna potrošnja energije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Poddimenzioniran uređaj → neučinkovito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hlađenje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tijekom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ljetnog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vrhunca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06440" y="1234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A4A"/>
                </a:solidFill>
              </a:rPr>
              <a:t>CRISP-DM Metodologija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6440" y="1627632"/>
            <a:ext cx="3017520" cy="411480"/>
          </a:xfrm>
          <a:prstGeom prst="rect">
            <a:avLst/>
          </a:prstGeom>
          <a:solidFill>
            <a:srgbClr val="0E4D7B"/>
          </a:solidFill>
          <a:ln w="635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8"/>
          <p:cNvSpPr/>
          <p:nvPr/>
        </p:nvSpPr>
        <p:spPr>
          <a:xfrm>
            <a:off x="580644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1. Razumijevanje domene  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2130552"/>
            <a:ext cx="3017520" cy="411480"/>
          </a:xfrm>
          <a:prstGeom prst="rect">
            <a:avLst/>
          </a:prstGeom>
          <a:solidFill>
            <a:srgbClr val="0E4D7B"/>
          </a:solidFill>
          <a:ln w="635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2" name="Text 10"/>
          <p:cNvSpPr/>
          <p:nvPr/>
        </p:nvSpPr>
        <p:spPr>
          <a:xfrm>
            <a:off x="5806440" y="2130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 Razumijevanje podataka  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06440" y="2633472"/>
            <a:ext cx="3017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2"/>
          <p:cNvSpPr/>
          <p:nvPr/>
        </p:nvSpPr>
        <p:spPr>
          <a:xfrm>
            <a:off x="5806440" y="26334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3. Priprema podataka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3136392"/>
            <a:ext cx="3017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6" name="Text 14"/>
          <p:cNvSpPr/>
          <p:nvPr/>
        </p:nvSpPr>
        <p:spPr>
          <a:xfrm>
            <a:off x="5806440" y="31363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4. Modeliranje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06440" y="3639312"/>
            <a:ext cx="3017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8" name="Text 16"/>
          <p:cNvSpPr/>
          <p:nvPr/>
        </p:nvSpPr>
        <p:spPr>
          <a:xfrm>
            <a:off x="5806440" y="3639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5. Vrednovanje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4142232"/>
            <a:ext cx="30175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0" name="Text 18"/>
          <p:cNvSpPr/>
          <p:nvPr/>
        </p:nvSpPr>
        <p:spPr>
          <a:xfrm>
            <a:off x="5806440" y="4142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6. Primjena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06440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Ovaj dokument pokriva faze 1 i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BD5E1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TROŠKOVI &amp; KORISTI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Analiza troškova i koristi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566160" y="1143000"/>
            <a:ext cx="2011680" cy="2011680"/>
          </a:xfrm>
          <a:prstGeom prst="ellipse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6" name="Text 4"/>
          <p:cNvSpPr/>
          <p:nvPr/>
        </p:nvSpPr>
        <p:spPr>
          <a:xfrm>
            <a:off x="356616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30+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29000" y="2331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projekata/god.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AF8"/>
                </a:solidFill>
              </a:rPr>
              <a:t>za break-even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29260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TROŠKOVI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2926080" cy="438912"/>
          </a:xfrm>
          <a:prstGeom prst="rect">
            <a:avLst/>
          </a:prstGeom>
          <a:solidFill>
            <a:srgbClr val="1A1A2E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1" name="Text 9"/>
          <p:cNvSpPr/>
          <p:nvPr/>
        </p:nvSpPr>
        <p:spPr>
          <a:xfrm>
            <a:off x="502920" y="15087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Razvoj modela (40-80h)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40280" y="150876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8C8C"/>
                </a:solidFill>
              </a:rPr>
              <a:t>5.000 – 10.000 EUR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2926080" cy="438912"/>
          </a:xfrm>
          <a:prstGeom prst="rect">
            <a:avLst/>
          </a:prstGeom>
          <a:solidFill>
            <a:srgbClr val="16213E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2"/>
          <p:cNvSpPr/>
          <p:nvPr/>
        </p:nvSpPr>
        <p:spPr>
          <a:xfrm>
            <a:off x="502920" y="20116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Računalni resursi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40280" y="201168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8C8C"/>
                </a:solidFill>
              </a:rPr>
              <a:t>500 – 2.000 EUR/god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2926080" cy="438912"/>
          </a:xfrm>
          <a:prstGeom prst="rect">
            <a:avLst/>
          </a:prstGeom>
          <a:solidFill>
            <a:srgbClr val="1A1A2E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5"/>
          <p:cNvSpPr/>
          <p:nvPr/>
        </p:nvSpPr>
        <p:spPr>
          <a:xfrm>
            <a:off x="502920" y="25146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Priprema podataka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40280" y="251460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8C8C"/>
                </a:solidFill>
              </a:rPr>
              <a:t>2.000 – 5.000 EUR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926080" cy="438912"/>
          </a:xfrm>
          <a:prstGeom prst="rect">
            <a:avLst/>
          </a:prstGeom>
          <a:solidFill>
            <a:srgbClr val="16213E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0" name="Text 18"/>
          <p:cNvSpPr/>
          <p:nvPr/>
        </p:nvSpPr>
        <p:spPr>
          <a:xfrm>
            <a:off x="502920" y="30175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Održavanje modela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40280" y="301752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8C8C"/>
                </a:solidFill>
              </a:rPr>
              <a:t>2.000 – 4.000 EUR/god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0" y="1097280"/>
            <a:ext cx="292608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3" name="Text 21"/>
          <p:cNvSpPr/>
          <p:nvPr/>
        </p:nvSpPr>
        <p:spPr>
          <a:xfrm>
            <a:off x="5852160" y="1097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KORISTI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1508760"/>
            <a:ext cx="2926080" cy="438912"/>
          </a:xfrm>
          <a:prstGeom prst="rect">
            <a:avLst/>
          </a:prstGeom>
          <a:solidFill>
            <a:srgbClr val="1A1A2E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5" name="Text 23"/>
          <p:cNvSpPr/>
          <p:nvPr/>
        </p:nvSpPr>
        <p:spPr>
          <a:xfrm>
            <a:off x="5989320" y="15087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Ušteda vremena / projektu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26680" y="150876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DCEA0"/>
                </a:solidFill>
              </a:rPr>
              <a:t>500 – 1.500 EUR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2011680"/>
            <a:ext cx="2926080" cy="438912"/>
          </a:xfrm>
          <a:prstGeom prst="rect">
            <a:avLst/>
          </a:prstGeom>
          <a:solidFill>
            <a:srgbClr val="16213E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8" name="Text 26"/>
          <p:cNvSpPr/>
          <p:nvPr/>
        </p:nvSpPr>
        <p:spPr>
          <a:xfrm>
            <a:off x="5989320" y="201168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Manje grešaka dimenzioniranja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26680" y="201168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DCEA0"/>
                </a:solidFill>
              </a:rPr>
              <a:t>Dugoročno 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52160" y="2514600"/>
            <a:ext cx="2926080" cy="438912"/>
          </a:xfrm>
          <a:prstGeom prst="rect">
            <a:avLst/>
          </a:prstGeom>
          <a:solidFill>
            <a:srgbClr val="1A1A2E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1" name="Text 29"/>
          <p:cNvSpPr/>
          <p:nvPr/>
        </p:nvSpPr>
        <p:spPr>
          <a:xfrm>
            <a:off x="5989320" y="251460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Brže izrade ponuda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26680" y="251460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DCEA0"/>
                </a:solidFill>
              </a:rPr>
              <a:t>Rast prihoda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3017520"/>
            <a:ext cx="2926080" cy="438912"/>
          </a:xfrm>
          <a:prstGeom prst="rect">
            <a:avLst/>
          </a:prstGeom>
          <a:solidFill>
            <a:srgbClr val="16213E"/>
          </a:solidFill>
          <a:ln w="381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4" name="Text 32"/>
          <p:cNvSpPr/>
          <p:nvPr/>
        </p:nvSpPr>
        <p:spPr>
          <a:xfrm>
            <a:off x="5989320" y="30175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Strateška analiza portfelja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26680" y="3017520"/>
            <a:ext cx="960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DCEA0"/>
                </a:solidFill>
              </a:rPr>
              <a:t>Bolje planiranje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</a:rPr>
              <a:t>Investicija se isplati već u prvoj godini pri 30+ projekata godišnje — realno za aktivan projektantski ured.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BD5E1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RAZUMIJEVANJE PODATAKA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</a:rPr>
              <a:t>Skup podataka — pregled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768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instanci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560320" cy="137160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9" name="Text 7"/>
          <p:cNvSpPr/>
          <p:nvPr/>
        </p:nvSpPr>
        <p:spPr>
          <a:xfrm>
            <a:off x="3337560" y="1234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9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337560" y="2103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atributa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560320" cy="137160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2" name="Text 10"/>
          <p:cNvSpPr/>
          <p:nvPr/>
        </p:nvSpPr>
        <p:spPr>
          <a:xfrm>
            <a:off x="6217920" y="1234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nedostajućih vrijednosti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11480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64008" cy="2057400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</a:rPr>
              <a:t>Izvor i generiranje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20040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Sintetički generiran simulacijom u alatu 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Ecotect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oblika tlocrta zgrada jednakog volumena (771.75 m³), uz sustavno variranje orijentacije, ostakljenja i raspodjele ostakljenja.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Dostupan na: UCI Machine Learning Repository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(dataset #242 — Energy Efficiency)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411480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64008" cy="2057400"/>
          </a:xfrm>
          <a:prstGeom prst="rect">
            <a:avLst/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0" name="Text 18"/>
          <p:cNvSpPr/>
          <p:nvPr/>
        </p:nvSpPr>
        <p:spPr>
          <a:xfrm>
            <a:off x="493776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A"/>
                </a:solidFill>
              </a:rPr>
              <a:t>Karakteristike skupa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24612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atributi su numerički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ulaznih značajki + 1 ciljna varijabla (Cooling Load)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Savršeno balansiran dizajn eksperimenta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grešaka mjerenja — prednost sintetičkih podataka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BD5E1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RAZUMIJEVANJE PODATAKA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</a:rPr>
              <a:t>Pregled atributa skupa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Jed. vr.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Compactness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Kompaktnost oblika zgrade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 – 0.98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Ukupna površina ovojnice (m²)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514.50 – 808.50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Površina zidova (m²)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245.00 – 416.50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Roof 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Površina krova (m²)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110.25 – 220.50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Height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Visina zgrade (m)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 – 7.00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Smjer pročelja (2=S,3=Z,4=I,5=J)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Glazing 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Udio ostakljenja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 – 0.40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Glazing Area Distr.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Raspodjela ostakljenja po fasadama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Load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Toplinski učinak hlađenja (kW)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10.90 – 48.03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F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★ Ciljna varijabla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BD5E1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ISTRAŽIVANJE PODATAKA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A"/>
                </a:solidFill>
              </a:rPr>
              <a:t>Distribucija ciljne varijable — Cooling Load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15568"/>
            <a:ext cx="6217920" cy="21762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2280" y="1115568"/>
            <a:ext cx="2011680" cy="50292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4"/>
          <p:cNvSpPr/>
          <p:nvPr/>
        </p:nvSpPr>
        <p:spPr>
          <a:xfrm>
            <a:off x="6903720" y="11430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</a:rPr>
              <a:t>Mean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03720" y="1344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24.59 kW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12280" y="1682496"/>
            <a:ext cx="2011680" cy="502920"/>
          </a:xfrm>
          <a:prstGeom prst="rect">
            <a:avLst/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7"/>
          <p:cNvSpPr/>
          <p:nvPr/>
        </p:nvSpPr>
        <p:spPr>
          <a:xfrm>
            <a:off x="6903720" y="17099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</a:rPr>
              <a:t>Median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903720" y="19110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22.08 kW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12280" y="2249424"/>
            <a:ext cx="2011680" cy="50292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3" name="Text 10"/>
          <p:cNvSpPr/>
          <p:nvPr/>
        </p:nvSpPr>
        <p:spPr>
          <a:xfrm>
            <a:off x="6903720" y="22768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</a:rPr>
              <a:t>Std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903720" y="24780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9.51 kW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12280" y="2816352"/>
            <a:ext cx="2011680" cy="502920"/>
          </a:xfrm>
          <a:prstGeom prst="rect">
            <a:avLst/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6" name="Text 13"/>
          <p:cNvSpPr/>
          <p:nvPr/>
        </p:nvSpPr>
        <p:spPr>
          <a:xfrm>
            <a:off x="6903720" y="28437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</a:rPr>
              <a:t>Skew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903720" y="3044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+0.47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65760" y="3456432"/>
            <a:ext cx="272491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9" name="Shape 16"/>
          <p:cNvSpPr/>
          <p:nvPr/>
        </p:nvSpPr>
        <p:spPr>
          <a:xfrm>
            <a:off x="365760" y="3456432"/>
            <a:ext cx="54864" cy="1481328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0" name="Text 17"/>
          <p:cNvSpPr/>
          <p:nvPr/>
        </p:nvSpPr>
        <p:spPr>
          <a:xfrm>
            <a:off x="530352" y="354787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</a:rPr>
              <a:t>Bimodalnost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0352" y="3895344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</a:rPr>
              <a:t>Dva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>
                <a:solidFill>
                  <a:srgbClr val="64748B"/>
                </a:solidFill>
              </a:rPr>
              <a:t>vrha</a:t>
            </a:r>
            <a:r>
              <a:rPr lang="en-US" sz="1000" dirty="0">
                <a:solidFill>
                  <a:srgbClr val="64748B"/>
                </a:solidFill>
              </a:rPr>
              <a:t> u distribuciji — prizemnice vs. jednokatnice, potvrđeno KDE krivuljom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73552" y="3456432"/>
            <a:ext cx="272491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3" name="Shape 20"/>
          <p:cNvSpPr/>
          <p:nvPr/>
        </p:nvSpPr>
        <p:spPr>
          <a:xfrm>
            <a:off x="3273552" y="3456432"/>
            <a:ext cx="54864" cy="1481328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4" name="Text 21"/>
          <p:cNvSpPr/>
          <p:nvPr/>
        </p:nvSpPr>
        <p:spPr>
          <a:xfrm>
            <a:off x="3438144" y="354787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</a:rPr>
              <a:t>Desna zakrivljenost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38144" y="3895344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Mean (24,59) &gt; Median (22,08) — blagi pozitivni rep distribucije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81344" y="3456432"/>
            <a:ext cx="272491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7" name="Shape 24"/>
          <p:cNvSpPr/>
          <p:nvPr/>
        </p:nvSpPr>
        <p:spPr>
          <a:xfrm>
            <a:off x="6181344" y="3456432"/>
            <a:ext cx="54864" cy="1481328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8" name="Text 25"/>
          <p:cNvSpPr/>
          <p:nvPr/>
        </p:nvSpPr>
        <p:spPr>
          <a:xfrm>
            <a:off x="6345936" y="3547872"/>
            <a:ext cx="2450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</a:rPr>
              <a:t>Shapiro-Wilk test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345936" y="3895344"/>
            <a:ext cx="2450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 &lt; 0,05 — distribucija nije normalna; RF i XGBoost to ne zahtijevaju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BD5E1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ISTRAŽIVANJE PODATAKA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A4A"/>
                </a:solidFill>
              </a:rPr>
              <a:t>Distribucije svih ulaznih atributa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78992"/>
            <a:ext cx="5129784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078992"/>
            <a:ext cx="3108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Shape 4"/>
          <p:cNvSpPr/>
          <p:nvPr/>
        </p:nvSpPr>
        <p:spPr>
          <a:xfrm>
            <a:off x="5715000" y="1078992"/>
            <a:ext cx="54864" cy="1298448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8" name="Text 5"/>
          <p:cNvSpPr/>
          <p:nvPr/>
        </p:nvSpPr>
        <p:spPr>
          <a:xfrm>
            <a:off x="5897880" y="1170432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</a:rPr>
              <a:t>Uniformne varijable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499616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Relative Compactness, Surface Area, Orientation i Glazing Area Distribution — ravnomjerna raspodjela tipična za planirani eksperiment.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0" y="2514600"/>
            <a:ext cx="3108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1" name="Shape 8"/>
          <p:cNvSpPr/>
          <p:nvPr/>
        </p:nvSpPr>
        <p:spPr>
          <a:xfrm>
            <a:off x="5715000" y="2514600"/>
            <a:ext cx="54864" cy="1298448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2" name="Text 9"/>
          <p:cNvSpPr/>
          <p:nvPr/>
        </p:nvSpPr>
        <p:spPr>
          <a:xfrm>
            <a:off x="5897880" y="2606040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</a:rPr>
              <a:t>Bimodalne varijable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293522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Overall Height — dva jednaka pika (3,5 m i 7,0 m) bez međuvrijednosti. Savršeno bimodalna (kurtosis = −2,00).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15000" y="3950208"/>
            <a:ext cx="3108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5" name="Shape 12"/>
          <p:cNvSpPr/>
          <p:nvPr/>
        </p:nvSpPr>
        <p:spPr>
          <a:xfrm>
            <a:off x="5715000" y="3950208"/>
            <a:ext cx="54864" cy="1298448"/>
          </a:xfrm>
          <a:prstGeom prst="rect">
            <a:avLst/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6" name="Text 13"/>
          <p:cNvSpPr/>
          <p:nvPr/>
        </p:nvSpPr>
        <p:spPr>
          <a:xfrm>
            <a:off x="5897880" y="4041648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</a:rPr>
              <a:t>Diskretni rasponi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97880" y="4370832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Glazing Area s četiri razine (0,00; 0,10; 0,25; 0,40), svaka zastupljena s točno 25% instanci skupa.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BD5E1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KORELACIJSKA ANALIZA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</a:rPr>
              <a:t>Korelacije s Cooling Load-om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54864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09728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7" name="Shape 4"/>
          <p:cNvSpPr/>
          <p:nvPr/>
        </p:nvSpPr>
        <p:spPr>
          <a:xfrm>
            <a:off x="6126480" y="1097280"/>
            <a:ext cx="64008" cy="1737360"/>
          </a:xfrm>
          <a:prstGeom prst="rect">
            <a:avLst/>
          </a:prstGeom>
          <a:solidFill>
            <a:srgbClr val="0E4D7B"/>
          </a:solidFill>
          <a:ln w="12700">
            <a:solidFill>
              <a:srgbClr val="0E4D7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8" name="Text 5"/>
          <p:cNvSpPr/>
          <p:nvPr/>
        </p:nvSpPr>
        <p:spPr>
          <a:xfrm>
            <a:off x="6309360" y="11887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</a:rPr>
              <a:t>Najjači prediktor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0936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Overall Height (r = 0.90)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Katnice imaju osjetno veći cooling load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26480" y="310896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1" name="Shape 8"/>
          <p:cNvSpPr/>
          <p:nvPr/>
        </p:nvSpPr>
        <p:spPr>
          <a:xfrm>
            <a:off x="6126480" y="3108960"/>
            <a:ext cx="64008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2" name="Text 9"/>
          <p:cNvSpPr/>
          <p:nvPr/>
        </p:nvSpPr>
        <p:spPr>
          <a:xfrm>
            <a:off x="6309360" y="3200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A4A"/>
                </a:solidFill>
              </a:rPr>
              <a:t>Slab prediktor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09360" y="3566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Orientation (r = 0.01)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Kandidat za izbacivanje iz modela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BD5E1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KORELACIJSKA ANALIZA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A"/>
                </a:solidFill>
              </a:rPr>
              <a:t>Otkrivena multikolinearnost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503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371600" cy="1691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1371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−0.99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20240" y="12618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4D7B"/>
                </a:solidFill>
              </a:rPr>
              <a:t>Relative Compactness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5544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EA8"/>
                </a:solidFill>
              </a:rPr>
              <a:t>vs.  Surface Area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8745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Gotovo savršena negativna korelacija (r = −0,99). Oba atributa opisuju istu geometrijsku informaciju iz suprotnih perspektiva — kompaktnost kao omjer volumena i površine, odnosno površina kao apsolutna mjera ovojnice.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0" y="1298448"/>
            <a:ext cx="228600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2" name="Text 10"/>
          <p:cNvSpPr/>
          <p:nvPr/>
        </p:nvSpPr>
        <p:spPr>
          <a:xfrm>
            <a:off x="6473952" y="1371600"/>
            <a:ext cx="21396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2A4A"/>
                </a:solidFill>
              </a:rPr>
              <a:t>Planirani korak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E4D7B"/>
                </a:solidFill>
              </a:rPr>
              <a:t>VIF analiza multikolinearnosti u Fazi 3 (Priprema podataka)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8503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1371600" cy="1691640"/>
          </a:xfrm>
          <a:prstGeom prst="rect">
            <a:avLst/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3"/>
          <p:cNvSpPr/>
          <p:nvPr/>
        </p:nvSpPr>
        <p:spPr>
          <a:xfrm>
            <a:off x="365760" y="2999232"/>
            <a:ext cx="1371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−0.97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920240" y="31181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4D7B"/>
                </a:solidFill>
              </a:rPr>
              <a:t>Roof Area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4107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EA8"/>
                </a:solidFill>
              </a:rPr>
              <a:t>vs.  Overall Height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73075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Logična funkcionalna veza: zgrade veće visine imaju više etaža i proporcionalno manji udio krovne površine u ukupnoj ovojnici. Oba atributa zajedno unose redundanciju koja može destabilizirati regresijske koeficijente.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3154680"/>
            <a:ext cx="228600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0" name="Text 18"/>
          <p:cNvSpPr/>
          <p:nvPr/>
        </p:nvSpPr>
        <p:spPr>
          <a:xfrm>
            <a:off x="6473952" y="3227832"/>
            <a:ext cx="21396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F2A4A"/>
                </a:solidFill>
              </a:rPr>
              <a:t>Planirani korak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E4D7B"/>
                </a:solidFill>
              </a:rPr>
              <a:t>Izbacivanje jednog atributa ili PCA transformacija u Fazi 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BD5E1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Provjera kvalitete &amp; Zaključak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143000"/>
          </a:xfrm>
          <a:prstGeom prst="rect">
            <a:avLst/>
          </a:prstGeom>
          <a:solidFill>
            <a:srgbClr val="0E2840"/>
          </a:solidFill>
          <a:ln w="635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" name="Shape 2"/>
          <p:cNvSpPr/>
          <p:nvPr/>
        </p:nvSpPr>
        <p:spPr>
          <a:xfrm>
            <a:off x="621792" y="1399032"/>
            <a:ext cx="365760" cy="365760"/>
          </a:xfrm>
          <a:prstGeom prst="ellipse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" name="Text 3"/>
          <p:cNvSpPr/>
          <p:nvPr/>
        </p:nvSpPr>
        <p:spPr>
          <a:xfrm>
            <a:off x="621792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AF8"/>
                </a:solidFill>
              </a:rPr>
              <a:t>Nema nedostajućih vrijednosti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Imputacija nije potrebna. Skup je potpun i spreman za modeliranje.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023360" cy="1143000"/>
          </a:xfrm>
          <a:prstGeom prst="rect">
            <a:avLst/>
          </a:prstGeom>
          <a:solidFill>
            <a:srgbClr val="0E2840"/>
          </a:solidFill>
          <a:ln w="635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9" name="Shape 7"/>
          <p:cNvSpPr/>
          <p:nvPr/>
        </p:nvSpPr>
        <p:spPr>
          <a:xfrm>
            <a:off x="5010912" y="1399032"/>
            <a:ext cx="365760" cy="365760"/>
          </a:xfrm>
          <a:prstGeom prst="ellipse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Text 8"/>
          <p:cNvSpPr/>
          <p:nvPr/>
        </p:nvSpPr>
        <p:spPr>
          <a:xfrm>
            <a:off x="5010912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3212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AF8"/>
                </a:solidFill>
              </a:rPr>
              <a:t>Konzistentni rasponi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1508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Svi atributi unutar fizikalno smislenih granica. Nema negativnih površina ni anomalija.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023360" cy="1143000"/>
          </a:xfrm>
          <a:prstGeom prst="rect">
            <a:avLst/>
          </a:prstGeom>
          <a:solidFill>
            <a:srgbClr val="0E2840"/>
          </a:solidFill>
          <a:ln w="635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Shape 12"/>
          <p:cNvSpPr/>
          <p:nvPr/>
        </p:nvSpPr>
        <p:spPr>
          <a:xfrm>
            <a:off x="621792" y="2724912"/>
            <a:ext cx="365760" cy="365760"/>
          </a:xfrm>
          <a:prstGeom prst="ellipse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5" name="Text 13"/>
          <p:cNvSpPr/>
          <p:nvPr/>
        </p:nvSpPr>
        <p:spPr>
          <a:xfrm>
            <a:off x="621792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468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AF8"/>
                </a:solidFill>
              </a:rPr>
              <a:t>Legitimni outlieri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Rubni slučajevi (maks. ostakljenje + katnica) — ne greške mjerenja. Zadržani u skupu.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377440"/>
            <a:ext cx="4023360" cy="1143000"/>
          </a:xfrm>
          <a:prstGeom prst="rect">
            <a:avLst/>
          </a:prstGeom>
          <a:solidFill>
            <a:srgbClr val="0E2840"/>
          </a:solidFill>
          <a:ln w="6350">
            <a:solidFill>
              <a:srgbClr val="1A6EA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9" name="Shape 17"/>
          <p:cNvSpPr/>
          <p:nvPr/>
        </p:nvSpPr>
        <p:spPr>
          <a:xfrm>
            <a:off x="5010912" y="2724912"/>
            <a:ext cx="365760" cy="365760"/>
          </a:xfrm>
          <a:prstGeom prst="ellipse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0" name="Text 18"/>
          <p:cNvSpPr/>
          <p:nvPr/>
        </p:nvSpPr>
        <p:spPr>
          <a:xfrm>
            <a:off x="5010912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2468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EAF8"/>
                </a:solidFill>
              </a:rPr>
              <a:t>Diskretne varijable čiste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</a:rPr>
              <a:t>Točno očekivane razine vrijednosti prema dokumentaciji skupa podataka.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412480" cy="749808"/>
          </a:xfrm>
          <a:prstGeom prst="rect">
            <a:avLst/>
          </a:prstGeom>
          <a:solidFill>
            <a:srgbClr val="2E9BDA"/>
          </a:solidFill>
          <a:ln w="12700">
            <a:solidFill>
              <a:srgbClr val="2E9B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Skup je čist, konzistentan i spreman za Fazu 3 — Pripremu podataka.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BD5E1"/>
                </a:solidFill>
              </a:rPr>
              <a:t>Sljedeći koraci: VIF analiza multikolinearnosti  ·  Feature selection  ·  Skaliranje značajki  ·  Treniranje modela (RF, XGB)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BD5E1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2467</Words>
  <Application>Microsoft Macintosh PowerPoint</Application>
  <PresentationFormat>On-screen Show (16:9)</PresentationFormat>
  <Paragraphs>220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Cooling Load</dc:title>
  <dc:subject>PptxGenJS Presentation</dc:subject>
  <dc:creator>Domgjonaj, Jasek, Šalaj</dc:creator>
  <cp:lastModifiedBy>Robert Domgjonaj</cp:lastModifiedBy>
  <cp:revision>4</cp:revision>
  <dcterms:created xsi:type="dcterms:W3CDTF">2026-04-26T19:46:46Z</dcterms:created>
  <dcterms:modified xsi:type="dcterms:W3CDTF">2026-04-26T20:25:45Z</dcterms:modified>
</cp:coreProperties>
</file>